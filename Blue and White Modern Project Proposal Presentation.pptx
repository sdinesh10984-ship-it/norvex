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Ultra-Bold" charset="1" panose="00000900000000000000"/>
      <p:regular r:id="rId15"/>
    </p:embeddedFont>
    <p:embeddedFont>
      <p:font typeface="Montserrat" charset="1" panose="00000500000000000000"/>
      <p:regular r:id="rId16"/>
    </p:embeddedFont>
    <p:embeddedFont>
      <p:font typeface="Montserrat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162585"/>
            <a:ext cx="6315491" cy="7588815"/>
            <a:chOff x="0" y="0"/>
            <a:chExt cx="411439" cy="4943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439" cy="494393"/>
            </a:xfrm>
            <a:custGeom>
              <a:avLst/>
              <a:gdLst/>
              <a:ahLst/>
              <a:cxnLst/>
              <a:rect r="r" b="b" t="t" l="l"/>
              <a:pathLst>
                <a:path h="494393" w="411439">
                  <a:moveTo>
                    <a:pt x="203200" y="0"/>
                  </a:moveTo>
                  <a:lnTo>
                    <a:pt x="411439" y="0"/>
                  </a:lnTo>
                  <a:lnTo>
                    <a:pt x="208239" y="494393"/>
                  </a:lnTo>
                  <a:lnTo>
                    <a:pt x="0" y="49439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8239" cy="532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18362" y="-815257"/>
            <a:ext cx="6004024" cy="7214550"/>
            <a:chOff x="0" y="0"/>
            <a:chExt cx="411439" cy="4943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1439" cy="494393"/>
            </a:xfrm>
            <a:custGeom>
              <a:avLst/>
              <a:gdLst/>
              <a:ahLst/>
              <a:cxnLst/>
              <a:rect r="r" b="b" t="t" l="l"/>
              <a:pathLst>
                <a:path h="494393" w="411439">
                  <a:moveTo>
                    <a:pt x="203200" y="0"/>
                  </a:moveTo>
                  <a:lnTo>
                    <a:pt x="411439" y="0"/>
                  </a:lnTo>
                  <a:lnTo>
                    <a:pt x="208239" y="494393"/>
                  </a:lnTo>
                  <a:lnTo>
                    <a:pt x="0" y="49439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08239" cy="532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96219" y="2792018"/>
            <a:ext cx="5784786" cy="5749522"/>
            <a:chOff x="0" y="0"/>
            <a:chExt cx="812800" cy="8078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07845"/>
            </a:xfrm>
            <a:custGeom>
              <a:avLst/>
              <a:gdLst/>
              <a:ahLst/>
              <a:cxnLst/>
              <a:rect r="r" b="b" t="t" l="l"/>
              <a:pathLst>
                <a:path h="807845" w="812800">
                  <a:moveTo>
                    <a:pt x="812800" y="403923"/>
                  </a:moveTo>
                  <a:lnTo>
                    <a:pt x="609600" y="807845"/>
                  </a:lnTo>
                  <a:lnTo>
                    <a:pt x="203200" y="807845"/>
                  </a:lnTo>
                  <a:lnTo>
                    <a:pt x="0" y="403923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403923"/>
                  </a:lnTo>
                  <a:close/>
                </a:path>
              </a:pathLst>
            </a:custGeom>
            <a:blipFill>
              <a:blip r:embed="rId2"/>
              <a:stretch>
                <a:fillRect l="0" t="-306" r="0" b="-306"/>
              </a:stretch>
            </a:blipFill>
            <a:ln w="12382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32739" y="1028700"/>
            <a:ext cx="529825" cy="529825"/>
          </a:xfrm>
          <a:custGeom>
            <a:avLst/>
            <a:gdLst/>
            <a:ahLst/>
            <a:cxnLst/>
            <a:rect r="r" b="b" t="t" l="l"/>
            <a:pathLst>
              <a:path h="529825" w="529825">
                <a:moveTo>
                  <a:pt x="0" y="0"/>
                </a:moveTo>
                <a:lnTo>
                  <a:pt x="529825" y="0"/>
                </a:lnTo>
                <a:lnTo>
                  <a:pt x="529825" y="529825"/>
                </a:lnTo>
                <a:lnTo>
                  <a:pt x="0" y="52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57479" y="371017"/>
            <a:ext cx="1913127" cy="191312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94033" y="3112819"/>
            <a:ext cx="9680335" cy="1620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90"/>
              </a:lnSpc>
            </a:pPr>
            <a:r>
              <a:rPr lang="en-US" b="true" sz="11355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ARCHINOVA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4033" y="4828657"/>
            <a:ext cx="9680335" cy="1944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spc="917">
                <a:solidFill>
                  <a:srgbClr val="3DD9E3"/>
                </a:solidFill>
                <a:latin typeface="Montserrat"/>
                <a:ea typeface="Montserrat"/>
                <a:cs typeface="Montserrat"/>
                <a:sym typeface="Montserrat"/>
              </a:rPr>
              <a:t>SMART ARCHITECTURE DESIGN &amp; INNOVATION RECOMMENDATION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2564" y="7450529"/>
            <a:ext cx="7578427" cy="43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Submitted by:</a:t>
            </a:r>
            <a:r>
              <a:rPr lang="en-US" sz="2594">
                <a:solidFill>
                  <a:srgbClr val="3DD9E3"/>
                </a:solidFill>
                <a:latin typeface="Montserrat"/>
                <a:ea typeface="Montserrat"/>
                <a:cs typeface="Montserrat"/>
                <a:sym typeface="Montserrat"/>
              </a:rPr>
              <a:t> Sathyavani.S &amp; J.Livince Mary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4987" y="8102622"/>
            <a:ext cx="7578427" cy="43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Guide: </a:t>
            </a:r>
            <a:r>
              <a:rPr lang="en-US" sz="2594">
                <a:solidFill>
                  <a:srgbClr val="3DD9E3"/>
                </a:solidFill>
                <a:latin typeface="Montserrat"/>
                <a:ea typeface="Montserrat"/>
                <a:cs typeface="Montserrat"/>
                <a:sym typeface="Montserrat"/>
              </a:rPr>
              <a:t>Keerthana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2959" y="-815257"/>
            <a:ext cx="6381527" cy="6634510"/>
            <a:chOff x="0" y="0"/>
            <a:chExt cx="406400" cy="422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73928" y="2704463"/>
            <a:ext cx="9153984" cy="962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What is </a:t>
            </a:r>
            <a:r>
              <a:rPr lang="en-US" b="true" sz="6800" strike="noStrike" u="none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Archinova?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32739" y="797324"/>
            <a:ext cx="529825" cy="529825"/>
          </a:xfrm>
          <a:custGeom>
            <a:avLst/>
            <a:gdLst/>
            <a:ahLst/>
            <a:cxnLst/>
            <a:rect r="r" b="b" t="t" l="l"/>
            <a:pathLst>
              <a:path h="529825" w="529825">
                <a:moveTo>
                  <a:pt x="0" y="0"/>
                </a:moveTo>
                <a:lnTo>
                  <a:pt x="529825" y="0"/>
                </a:lnTo>
                <a:lnTo>
                  <a:pt x="529825" y="529826"/>
                </a:lnTo>
                <a:lnTo>
                  <a:pt x="0" y="529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09879" y="523417"/>
            <a:ext cx="1441513" cy="144151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73928" y="4188142"/>
            <a:ext cx="1086981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Archinova is a smart web platform for architecture design selection.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3365" y="4926330"/>
            <a:ext cx="680650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 recommends building designs based on: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4588" y="5602083"/>
            <a:ext cx="17099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Budget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4588" y="6230789"/>
            <a:ext cx="255210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Area &amp; floors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67637" y="7480469"/>
            <a:ext cx="313789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tyle preference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64124" y="8105309"/>
            <a:ext cx="777359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Provides sustainability + interior suggestions.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4588" y="6855629"/>
            <a:ext cx="308094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Climate / region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37715" y="628650"/>
            <a:ext cx="8130241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>
                <a:solidFill>
                  <a:srgbClr val="3DD9E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SYSTEM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97340" y="7920318"/>
            <a:ext cx="6787605" cy="7056686"/>
            <a:chOff x="0" y="0"/>
            <a:chExt cx="406400" cy="422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6322" y="3103685"/>
            <a:ext cx="8585189" cy="4792379"/>
            <a:chOff x="0" y="0"/>
            <a:chExt cx="2261120" cy="12621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1120" cy="1262190"/>
            </a:xfrm>
            <a:custGeom>
              <a:avLst/>
              <a:gdLst/>
              <a:ahLst/>
              <a:cxnLst/>
              <a:rect r="r" b="b" t="t" l="l"/>
              <a:pathLst>
                <a:path h="1262190" w="2261120">
                  <a:moveTo>
                    <a:pt x="0" y="0"/>
                  </a:moveTo>
                  <a:lnTo>
                    <a:pt x="2261120" y="0"/>
                  </a:lnTo>
                  <a:lnTo>
                    <a:pt x="2261120" y="1262190"/>
                  </a:lnTo>
                  <a:lnTo>
                    <a:pt x="0" y="1262190"/>
                  </a:lnTo>
                  <a:close/>
                </a:path>
              </a:pathLst>
            </a:custGeom>
            <a:solidFill>
              <a:srgbClr val="3DD9E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61120" cy="1300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18794" y="1395081"/>
            <a:ext cx="6142943" cy="1525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54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User Interaction Flow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050" y="3294837"/>
            <a:ext cx="6505422" cy="433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8" indent="-269874" lvl="1">
              <a:lnSpc>
                <a:spcPts val="3899"/>
              </a:lnSpc>
              <a:buAutoNum type="arabicPeriod" startAt="1"/>
            </a:pPr>
            <a:r>
              <a:rPr lang="en-US" sz="2499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U</a:t>
            </a:r>
            <a:r>
              <a:rPr lang="en-US" sz="2499" strike="noStrike" u="non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ser opens website</a:t>
            </a:r>
          </a:p>
          <a:p>
            <a:pPr algn="l" marL="539748" indent="-269874" lvl="1">
              <a:lnSpc>
                <a:spcPts val="3899"/>
              </a:lnSpc>
              <a:buAutoNum type="arabicPeriod" startAt="1"/>
            </a:pPr>
            <a:r>
              <a:rPr lang="en-US" sz="2499" strike="noStrike" u="non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User registers / logs in</a:t>
            </a:r>
          </a:p>
          <a:p>
            <a:pPr algn="l" marL="539748" indent="-269874" lvl="1">
              <a:lnSpc>
                <a:spcPts val="3899"/>
              </a:lnSpc>
              <a:buAutoNum type="arabicPeriod" startAt="1"/>
            </a:pPr>
            <a:r>
              <a:rPr lang="en-US" sz="2499" strike="noStrike" u="non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User enters requirements:</a:t>
            </a:r>
          </a:p>
          <a:p>
            <a:pPr algn="l" marL="539748" indent="-269874" lvl="1">
              <a:lnSpc>
                <a:spcPts val="38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Building type (Villa/House/Apartment)</a:t>
            </a:r>
          </a:p>
          <a:p>
            <a:pPr algn="l" marL="539748" indent="-269874" lvl="1">
              <a:lnSpc>
                <a:spcPts val="38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Budget, area, floors</a:t>
            </a:r>
          </a:p>
          <a:p>
            <a:pPr algn="l" marL="539748" indent="-269874" lvl="1">
              <a:lnSpc>
                <a:spcPts val="38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Style preference</a:t>
            </a:r>
          </a:p>
          <a:p>
            <a:pPr algn="l" marL="539748" indent="-269874" lvl="1">
              <a:lnSpc>
                <a:spcPts val="38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Region (hot/cold/coastal/rainy)</a:t>
            </a:r>
          </a:p>
          <a:p>
            <a:pPr algn="l" marL="0" indent="0" lvl="0">
              <a:lnSpc>
                <a:spcPts val="389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21041" y="-815257"/>
            <a:ext cx="6381527" cy="6634510"/>
            <a:chOff x="0" y="0"/>
            <a:chExt cx="406400" cy="422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6043" y="1865242"/>
            <a:ext cx="12584296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RECOMMENDATION PROCESS (WORKING STAGE)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28530" y="5203697"/>
            <a:ext cx="6505422" cy="405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validates user input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Best matching designs are selected.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Recommendation engine processes data using:</a:t>
            </a:r>
          </a:p>
          <a:p>
            <a:pPr algn="l" marL="518158" indent="-259079" lvl="1">
              <a:lnSpc>
                <a:spcPts val="3743"/>
              </a:lnSpc>
              <a:buAutoNum type="arabicPeriod" startAt="1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Budget-based filtering</a:t>
            </a:r>
          </a:p>
          <a:p>
            <a:pPr algn="l" marL="518158" indent="-259079" lvl="1">
              <a:lnSpc>
                <a:spcPts val="3743"/>
              </a:lnSpc>
              <a:buAutoNum type="arabicPeriod" startAt="1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Climate-based analysis</a:t>
            </a:r>
          </a:p>
          <a:p>
            <a:pPr algn="l" marL="518158" indent="-259079" lvl="1">
              <a:lnSpc>
                <a:spcPts val="3743"/>
              </a:lnSpc>
              <a:buAutoNum type="arabicPeriod" startAt="1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Similar design matching</a:t>
            </a:r>
          </a:p>
          <a:p>
            <a:pPr algn="l">
              <a:lnSpc>
                <a:spcPts val="686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2085195" y="8641887"/>
            <a:ext cx="5743236" cy="5970915"/>
            <a:chOff x="0" y="0"/>
            <a:chExt cx="406400" cy="4225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078879" y="4263502"/>
            <a:ext cx="8130241" cy="155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b="true">
                <a:solidFill>
                  <a:srgbClr val="3DD9E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System Working Flow</a:t>
            </a:r>
          </a:p>
          <a:p>
            <a:pPr algn="l" marL="0" indent="0" lvl="0">
              <a:lnSpc>
                <a:spcPts val="6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96165" y="-2832448"/>
            <a:ext cx="6381527" cy="6634510"/>
            <a:chOff x="0" y="0"/>
            <a:chExt cx="406400" cy="422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>
                <a:alpha val="6392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050033" y="5091303"/>
            <a:ext cx="6505422" cy="416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3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 </a:t>
            </a: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receives: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Recommended building designs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Floor plan + elevation preview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Material suggestions based on climate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Sustainability ideas (solar, rainwater harvesting)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Interior &amp; lighting recommendations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3D visualization (rotate/zoom)</a:t>
            </a:r>
          </a:p>
          <a:p>
            <a:pPr algn="l" marL="0" indent="0" lvl="0">
              <a:lnSpc>
                <a:spcPts val="374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585322" y="943381"/>
            <a:ext cx="8082469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00"/>
              </a:lnSpc>
              <a:spcBef>
                <a:spcPct val="0"/>
              </a:spcBef>
            </a:pPr>
            <a:r>
              <a:rPr lang="en-US" b="true" sz="5000">
                <a:solidFill>
                  <a:srgbClr val="3DD9E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OUTPUT &amp; FEATURES (RESULT STAGE)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25263"/>
            <a:ext cx="6142943" cy="189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69"/>
              </a:lnSpc>
              <a:spcBef>
                <a:spcPct val="0"/>
              </a:spcBef>
            </a:pPr>
            <a:r>
              <a:rPr lang="en-US" b="true" sz="6699">
                <a:solidFill>
                  <a:srgbClr val="FFFFFF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Final Output to User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2262995" y="6441221"/>
            <a:ext cx="6787605" cy="7056686"/>
            <a:chOff x="0" y="0"/>
            <a:chExt cx="406400" cy="422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2959" y="-2405830"/>
            <a:ext cx="6381527" cy="6634510"/>
            <a:chOff x="0" y="0"/>
            <a:chExt cx="406400" cy="422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415965" y="5941045"/>
            <a:ext cx="6381527" cy="6634510"/>
            <a:chOff x="0" y="0"/>
            <a:chExt cx="406400" cy="422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62564" y="2647642"/>
            <a:ext cx="7136472" cy="87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20"/>
              </a:lnSpc>
              <a:spcBef>
                <a:spcPct val="0"/>
              </a:spcBef>
            </a:pPr>
            <a:r>
              <a:rPr lang="en-US" b="true" sz="6200">
                <a:solidFill>
                  <a:srgbClr val="3DD9E3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ADMIN MODULE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61347" y="4401917"/>
            <a:ext cx="6505422" cy="336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3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</a:t>
            </a: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min can: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Add / update designs in gallery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Manage users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Update recommendation rules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Monitor feedback and ratings</a:t>
            </a:r>
          </a:p>
          <a:p>
            <a:pPr algn="l" marL="518158" indent="-259079" lvl="1">
              <a:lnSpc>
                <a:spcPts val="3743"/>
              </a:lnSpc>
              <a:buFont typeface="Arial"/>
              <a:buChar char="•"/>
            </a:pPr>
            <a:r>
              <a:rPr lang="en-US" sz="2399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Maintain system database</a:t>
            </a:r>
          </a:p>
          <a:p>
            <a:pPr algn="l" marL="0" indent="0" lvl="0">
              <a:lnSpc>
                <a:spcPts val="483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70833" y="-3317255"/>
            <a:ext cx="6381527" cy="6634510"/>
            <a:chOff x="0" y="0"/>
            <a:chExt cx="406400" cy="422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035363" y="580602"/>
            <a:ext cx="6011343" cy="8913260"/>
          </a:xfrm>
          <a:custGeom>
            <a:avLst/>
            <a:gdLst/>
            <a:ahLst/>
            <a:cxnLst/>
            <a:rect r="r" b="b" t="t" l="l"/>
            <a:pathLst>
              <a:path h="8913260" w="6011343">
                <a:moveTo>
                  <a:pt x="0" y="0"/>
                </a:moveTo>
                <a:lnTo>
                  <a:pt x="6011343" y="0"/>
                </a:lnTo>
                <a:lnTo>
                  <a:pt x="6011343" y="8913260"/>
                </a:lnTo>
                <a:lnTo>
                  <a:pt x="0" y="8913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5" t="-781" r="0" b="-78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403918" y="1348664"/>
            <a:ext cx="4366915" cy="87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3DD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FLOW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70833" y="-3317255"/>
            <a:ext cx="6381527" cy="6634510"/>
            <a:chOff x="0" y="0"/>
            <a:chExt cx="406400" cy="422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51776" y="626384"/>
            <a:ext cx="6019057" cy="9034232"/>
          </a:xfrm>
          <a:custGeom>
            <a:avLst/>
            <a:gdLst/>
            <a:ahLst/>
            <a:cxnLst/>
            <a:rect r="r" b="b" t="t" l="l"/>
            <a:pathLst>
              <a:path h="9034232" w="6019057">
                <a:moveTo>
                  <a:pt x="0" y="0"/>
                </a:moveTo>
                <a:lnTo>
                  <a:pt x="6019057" y="0"/>
                </a:lnTo>
                <a:lnTo>
                  <a:pt x="6019057" y="9034232"/>
                </a:lnTo>
                <a:lnTo>
                  <a:pt x="0" y="903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73052" y="942975"/>
            <a:ext cx="4928890" cy="87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3DD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 </a:t>
            </a:r>
            <a:r>
              <a:rPr lang="en-US" b="true" sz="5199">
                <a:solidFill>
                  <a:srgbClr val="3DD9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644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32959" y="-2519930"/>
            <a:ext cx="6381527" cy="6634510"/>
            <a:chOff x="0" y="0"/>
            <a:chExt cx="406400" cy="4225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84590" y="7423809"/>
            <a:ext cx="6381527" cy="6634510"/>
            <a:chOff x="0" y="0"/>
            <a:chExt cx="406400" cy="4225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422511"/>
            </a:xfrm>
            <a:custGeom>
              <a:avLst/>
              <a:gdLst/>
              <a:ahLst/>
              <a:cxnLst/>
              <a:rect r="r" b="b" t="t" l="l"/>
              <a:pathLst>
                <a:path h="42251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422511"/>
                  </a:lnTo>
                  <a:lnTo>
                    <a:pt x="0" y="4225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E53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203200" cy="460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36552" y="2110022"/>
            <a:ext cx="11614896" cy="6066956"/>
            <a:chOff x="0" y="0"/>
            <a:chExt cx="155606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6067" cy="812800"/>
            </a:xfrm>
            <a:custGeom>
              <a:avLst/>
              <a:gdLst/>
              <a:ahLst/>
              <a:cxnLst/>
              <a:rect r="r" b="b" t="t" l="l"/>
              <a:pathLst>
                <a:path h="812800" w="1556067">
                  <a:moveTo>
                    <a:pt x="0" y="0"/>
                  </a:moveTo>
                  <a:lnTo>
                    <a:pt x="1556067" y="0"/>
                  </a:lnTo>
                  <a:lnTo>
                    <a:pt x="155606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DD9E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606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348638" y="3586079"/>
            <a:ext cx="9590723" cy="3610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6"/>
              </a:lnSpc>
            </a:pPr>
            <a:r>
              <a:rPr lang="en-US" b="true" sz="15685">
                <a:solidFill>
                  <a:srgbClr val="0644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  <a:p>
            <a:pPr algn="ctr" marL="0" indent="0" lvl="0">
              <a:lnSpc>
                <a:spcPts val="13646"/>
              </a:lnSpc>
            </a:pPr>
            <a:r>
              <a:rPr lang="en-US" b="true" sz="15685">
                <a:solidFill>
                  <a:srgbClr val="06447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DAHBxv_aKH4</dc:identifier>
  <dcterms:modified xsi:type="dcterms:W3CDTF">2011-08-01T06:04:30Z</dcterms:modified>
  <cp:revision>1</cp:revision>
  <dc:title>Blue and White Modern Project Proposal Presentation</dc:title>
</cp:coreProperties>
</file>